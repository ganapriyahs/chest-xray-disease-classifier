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76" r:id="rId4"/>
    <p:sldId id="258" r:id="rId5"/>
    <p:sldId id="266" r:id="rId6"/>
    <p:sldId id="260" r:id="rId7"/>
    <p:sldId id="267" r:id="rId8"/>
    <p:sldId id="262" r:id="rId9"/>
    <p:sldId id="273" r:id="rId10"/>
    <p:sldId id="274" r:id="rId11"/>
    <p:sldId id="275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497"/>
    <p:restoredTop sz="94587"/>
  </p:normalViewPr>
  <p:slideViewPr>
    <p:cSldViewPr snapToGrid="0" snapToObjects="1">
      <p:cViewPr varScale="1">
        <p:scale>
          <a:sx n="154" d="100"/>
          <a:sy n="154" d="100"/>
        </p:scale>
        <p:origin x="56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93418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CheXNet (Rajpurkar 2017) achieved radiologist-level AUC of 0.768 on Pneumonia using DenseNet-121. Our work follows this methodology with modern enhancements: AMP mixed precision and cosine annealing.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Loss: BCEWithLogitsLoss with pos_weight = neg/pos per class. Hernia weight 638x vs Infiltration 5x. No sigmoid at model output BCEWithLogitsLoss applies it internally for numerical stability. Best checkpoint selected by validation AUC-ROC.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Takeaway: Phase 2 full fine-tuning drove ~7% AUC gain. Val AUC tracked test AUC closely with no overfitting.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ResNet50: 0.7985  |  DenseNet-121: 0.7939  |  Delta = -0.005  |  ResNet50 wins 8/14 diseases  |  DenseNet-121 wins 6/14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49640" y="502005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O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5102352"/>
            <a:ext cx="9144000" cy="4114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49640" y="502005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7432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2633472"/>
            <a:ext cx="914400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132320" y="164592"/>
            <a:ext cx="1691640" cy="2377440"/>
          </a:xfrm>
          <a:prstGeom prst="rect">
            <a:avLst/>
          </a:prstGeom>
          <a:solidFill>
            <a:srgbClr val="162D4A"/>
          </a:solidFill>
          <a:ln w="12700">
            <a:solidFill>
              <a:srgbClr val="162D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498080" y="347472"/>
            <a:ext cx="1508760" cy="18288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292608"/>
            <a:ext cx="640080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Multi-Label Thoracic</a:t>
            </a:r>
            <a:endParaRPr lang="en-US" sz="3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Classification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457200" y="2057400"/>
            <a:ext cx="6583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3316777"/>
            <a:ext cx="8229600" cy="3241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Ganapriya Hiriyur Shivakumar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688378" y="3308466"/>
            <a:ext cx="3998422" cy="3906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Gargi Kulshreshtha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70332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100DF80-3E3A-1CF7-C032-1F6D32022C89}"/>
              </a:ext>
            </a:extLst>
          </p:cNvPr>
          <p:cNvSpPr txBox="1"/>
          <p:nvPr/>
        </p:nvSpPr>
        <p:spPr>
          <a:xfrm>
            <a:off x="432262" y="3025833"/>
            <a:ext cx="22444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Team Members: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8321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MOTIVATION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402336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069848"/>
            <a:ext cx="8321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11480" y="1060704"/>
            <a:ext cx="109728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549640" y="5020056"/>
            <a:ext cx="4572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11480" y="1207008"/>
            <a:ext cx="411480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120700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4340" y="1595628"/>
            <a:ext cx="4114800" cy="2992997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11480" y="1572768"/>
            <a:ext cx="4114800" cy="3007545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11480" y="1572768"/>
            <a:ext cx="45719" cy="2990919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66928" y="1664208"/>
            <a:ext cx="3822192" cy="23342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billion chest X-rays performed annually worldwide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Radiologists interpret hundreds per day fatigue causes missed diagnoses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negatives are dangerous in Pneumonia, Pneumothorax, and Lung Mass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X-ray commonly shows 2 or more concurrent pathologies binary models handle only one at a time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build an AI triage tool that simultaneously detects all 14 thoracic diseases from a single X-ray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09160" y="1207008"/>
            <a:ext cx="406908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709160" y="1207008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09160" y="1572768"/>
            <a:ext cx="406908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709160" y="1572768"/>
            <a:ext cx="54864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828032" y="162763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28032" y="1901952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NIH ChestX-ray14 112,120 frontal X-rays from 30,805 patients with NLP-extracted labels for 14 diseases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09160" y="2350008"/>
            <a:ext cx="4069080" cy="713232"/>
          </a:xfrm>
          <a:prstGeom prst="rect">
            <a:avLst/>
          </a:prstGeom>
          <a:solidFill>
            <a:srgbClr val="F4F6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709160" y="2350008"/>
            <a:ext cx="54864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28032" y="240487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28032" y="2679192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ResNet50 (baseline, ~25M params) vs DenseNet-121 (advanced, ~8M params)  both pre-trained on ImageNet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709160" y="3127248"/>
            <a:ext cx="4069080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709160" y="3127248"/>
            <a:ext cx="54864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828032" y="318211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28032" y="3456432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Two-phase strategy: frozen backbone warm-up (Phase 1) then full fine-tune (Phase 2) with weighted BCE loss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709160" y="3904488"/>
            <a:ext cx="4069080" cy="713232"/>
          </a:xfrm>
          <a:prstGeom prst="rect">
            <a:avLst/>
          </a:prstGeom>
          <a:solidFill>
            <a:srgbClr val="F4F6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709160" y="3904488"/>
            <a:ext cx="54864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828032" y="39593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28032" y="4233672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Per-class AUC-ROC across all 14 disease classes threshold-independent and imbalance-robust</a:t>
            </a:r>
            <a:endParaRPr lang="en-US" sz="95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49640" y="502005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r>
              <a:rPr lang="en-US" dirty="0"/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8321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TECHNICAL STACK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402336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and Libraries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069848"/>
            <a:ext cx="8321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11480" y="1060704"/>
            <a:ext cx="109728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549640" y="5020056"/>
            <a:ext cx="4572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11480" y="1207008"/>
            <a:ext cx="411480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1207008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Framework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" y="1609344"/>
            <a:ext cx="411480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11480" y="1609344"/>
            <a:ext cx="54864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39496" y="171907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2.1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39496" y="2029968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framework nn.Module, autograd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1480" y="2487168"/>
            <a:ext cx="4114800" cy="822960"/>
          </a:xfrm>
          <a:prstGeom prst="rect">
            <a:avLst/>
          </a:prstGeom>
          <a:solidFill>
            <a:srgbClr val="F4F6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11480" y="2487168"/>
            <a:ext cx="54864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39496" y="2596896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torchvision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39496" y="2907792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Pretrained ResNet50 and DenseNet-121, transforms pipeline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11480" y="3364992"/>
            <a:ext cx="411480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11480" y="3364992"/>
            <a:ext cx="54864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39496" y="34747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torch.cuda.amp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39496" y="3785616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Mixed Precision GradScaler, float16 forward pass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11480" y="4242816"/>
            <a:ext cx="4114800" cy="822960"/>
          </a:xfrm>
          <a:prstGeom prst="rect">
            <a:avLst/>
          </a:prstGeom>
          <a:solidFill>
            <a:srgbClr val="F4F6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11480" y="4242816"/>
            <a:ext cx="54864" cy="8229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39496" y="4352544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nn.DataParallel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9496" y="466344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DenseNet-121 split across 2x Tesla T4 GPUs on Kaggle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1207008"/>
            <a:ext cx="4069080" cy="38404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754880" y="1207008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and Visualization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754880" y="1609344"/>
            <a:ext cx="406908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754880" y="1609344"/>
            <a:ext cx="54864" cy="16916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882896" y="1719072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(Tesla T4)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882896" y="2029968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1x T4 for ResNet50  ·  2x T4 (DataParallel) for DenseNet-121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754880" y="3355848"/>
            <a:ext cx="4069080" cy="1691640"/>
          </a:xfrm>
          <a:prstGeom prst="rect">
            <a:avLst/>
          </a:prstGeom>
          <a:solidFill>
            <a:srgbClr val="F4F6F9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754880" y="3355848"/>
            <a:ext cx="54864" cy="16916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882896" y="3465576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BCEWithLogitsLoss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882896" y="3776472"/>
            <a:ext cx="3886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Numerically stable loss with pos_weight tensor Hernia 638x, Infiltration 5x</a:t>
            </a:r>
            <a:endParaRPr lang="en-US" sz="110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49640" y="502005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r>
              <a:rPr lang="en-US" dirty="0"/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8321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DATASET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402336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NIH ChestX-ray14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069848"/>
            <a:ext cx="8321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11480" y="1060704"/>
            <a:ext cx="109728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549640" y="5020056"/>
            <a:ext cx="4572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34340" y="1257300"/>
            <a:ext cx="2926080" cy="76809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11480" y="1234440"/>
            <a:ext cx="2926080" cy="768096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11480" y="1234440"/>
            <a:ext cx="54864" cy="76809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94360" y="1280160"/>
            <a:ext cx="2606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112,120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594360" y="1728216"/>
            <a:ext cx="2606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Chest X-Ray Images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34340" y="2144268"/>
            <a:ext cx="2926080" cy="76809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11480" y="2121408"/>
            <a:ext cx="2926080" cy="768096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11480" y="2121408"/>
            <a:ext cx="54864" cy="76809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94360" y="2167128"/>
            <a:ext cx="2606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30,805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594360" y="2615184"/>
            <a:ext cx="2606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Patients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34340" y="3031236"/>
            <a:ext cx="2926080" cy="76809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11480" y="3008376"/>
            <a:ext cx="2926080" cy="768096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11480" y="3008376"/>
            <a:ext cx="54864" cy="76809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94360" y="3054096"/>
            <a:ext cx="2606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594360" y="3502152"/>
            <a:ext cx="2606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Classes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34340" y="3918204"/>
            <a:ext cx="2926080" cy="768096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11480" y="3895344"/>
            <a:ext cx="2926080" cy="768096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411480" y="3895344"/>
            <a:ext cx="54864" cy="76809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94360" y="3941064"/>
            <a:ext cx="2606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77K / 8.5K / 25.6K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594360" y="4389120"/>
            <a:ext cx="2606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Val / Test set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566160" y="1207008"/>
            <a:ext cx="5257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Frequency  Train Set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566160" y="1572768"/>
            <a:ext cx="118872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Infiltration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4828032" y="1572768"/>
            <a:ext cx="4114800" cy="18745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8562109" y="1213659"/>
            <a:ext cx="581891" cy="5153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12,480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3566160" y="1792224"/>
            <a:ext cx="118872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Effusion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4828032" y="1792224"/>
            <a:ext cx="2588895" cy="18745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7462647" y="1792224"/>
            <a:ext cx="50292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7,852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3566160" y="2011680"/>
            <a:ext cx="118872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Atelectasis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4828032" y="2011680"/>
            <a:ext cx="2441514" cy="18745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7315266" y="2011680"/>
            <a:ext cx="50292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7,405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3566160" y="2231136"/>
            <a:ext cx="118872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Nodule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4828032" y="2231136"/>
            <a:ext cx="1400285" cy="1874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274037" y="2231136"/>
            <a:ext cx="50292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4,247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3566160" y="2450592"/>
            <a:ext cx="118872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4828032" y="2450592"/>
            <a:ext cx="1202128" cy="1874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075880" y="2450592"/>
            <a:ext cx="50292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3,646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3566160" y="2670048"/>
            <a:ext cx="118872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Consolidation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4828032" y="2670048"/>
            <a:ext cx="851975" cy="1874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5725727" y="2670048"/>
            <a:ext cx="50292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2,584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3566160" y="2889504"/>
            <a:ext cx="118872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Pneumothorax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4828032" y="2889504"/>
            <a:ext cx="789329" cy="1874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5663081" y="2889504"/>
            <a:ext cx="50292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2,394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3566160" y="3108960"/>
            <a:ext cx="118872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Cardiomegaly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4828032" y="3108960"/>
            <a:ext cx="510723" cy="18745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5384475" y="3108960"/>
            <a:ext cx="50292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1,549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3566160" y="3328416"/>
            <a:ext cx="118872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Emphysema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4828032" y="3328416"/>
            <a:ext cx="434230" cy="18745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5307982" y="3328416"/>
            <a:ext cx="50292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1,317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3566160" y="3547872"/>
            <a:ext cx="118872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Edema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4828032" y="3547872"/>
            <a:ext cx="413129" cy="18745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5286881" y="3547872"/>
            <a:ext cx="50292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1,253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3566160" y="3767328"/>
            <a:ext cx="118872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Fibrosis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4828032" y="3767328"/>
            <a:ext cx="366310" cy="18745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5240062" y="3767328"/>
            <a:ext cx="50292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1,111</a:t>
            </a:r>
            <a:endParaRPr lang="en-US" sz="700" dirty="0"/>
          </a:p>
        </p:txBody>
      </p:sp>
      <p:sp>
        <p:nvSpPr>
          <p:cNvPr id="61" name="Text 59"/>
          <p:cNvSpPr/>
          <p:nvPr/>
        </p:nvSpPr>
        <p:spPr>
          <a:xfrm>
            <a:off x="3566160" y="3986784"/>
            <a:ext cx="118872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Pneumonia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4828032" y="3986784"/>
            <a:ext cx="257834" cy="18745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5131586" y="3986784"/>
            <a:ext cx="50292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782</a:t>
            </a:r>
            <a:endParaRPr lang="en-US" sz="700" dirty="0"/>
          </a:p>
        </p:txBody>
      </p:sp>
      <p:sp>
        <p:nvSpPr>
          <p:cNvPr id="64" name="Text 62"/>
          <p:cNvSpPr/>
          <p:nvPr/>
        </p:nvSpPr>
        <p:spPr>
          <a:xfrm>
            <a:off x="3566160" y="4206240"/>
            <a:ext cx="118872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Hernia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4828032" y="4206240"/>
            <a:ext cx="40225" cy="187452"/>
          </a:xfrm>
          <a:prstGeom prst="rect">
            <a:avLst/>
          </a:prstGeom>
          <a:solidFill>
            <a:srgbClr val="93C5FD"/>
          </a:solidFill>
          <a:ln w="1270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4913977" y="4206240"/>
            <a:ext cx="502920" cy="1874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122</a:t>
            </a:r>
            <a:endParaRPr lang="en-US" sz="700" dirty="0"/>
          </a:p>
        </p:txBody>
      </p:sp>
      <p:sp>
        <p:nvSpPr>
          <p:cNvPr id="6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49640" y="502005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r>
              <a:rPr lang="en-US" dirty="0"/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8321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APPROACH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402336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Models, Two Phases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069848"/>
            <a:ext cx="8321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11480" y="1060704"/>
            <a:ext cx="109728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549640" y="5020056"/>
            <a:ext cx="4572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34340" y="1229868"/>
            <a:ext cx="4206240" cy="219456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11480" y="1207008"/>
            <a:ext cx="4206240" cy="2194560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11480" y="1207008"/>
            <a:ext cx="54864" cy="21945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66928" y="1325880"/>
            <a:ext cx="3291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ResNet50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66928" y="1764792"/>
            <a:ext cx="3886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 ·  ~25M parameters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66928" y="2048256"/>
            <a:ext cx="3730752" cy="0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66928" y="2157984"/>
            <a:ext cx="37307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connections solve vanishing gradient in 50-layer network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Head: Dropout(0.5) + Linear(2048 to 14)  no sigmoid at output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scheduler: CosineAnnealingLR  (standard cosine decay)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869180" y="1229868"/>
            <a:ext cx="4206240" cy="219456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846320" y="1207008"/>
            <a:ext cx="4206240" cy="2194560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846320" y="1207008"/>
            <a:ext cx="54864" cy="21945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001768" y="1325880"/>
            <a:ext cx="3291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DenseNet-121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5001768" y="1764792"/>
            <a:ext cx="3886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 ·  ~8M parameters  (3x smaller than ResNet50)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001768" y="2048256"/>
            <a:ext cx="3730752" cy="0"/>
          </a:xfrm>
          <a:prstGeom prst="line">
            <a:avLst/>
          </a:prstGeom>
          <a:noFill/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001768" y="2157984"/>
            <a:ext cx="37307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layer receives feature maps from all preceding layers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Head: Dropout(0.5) + Linear(1024 to 14)  DataParallel on 2x T4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scheduler: CosineAnnealingWarmRestarts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11480" y="3547872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Strategy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11480" y="3886200"/>
            <a:ext cx="4206240" cy="685800"/>
          </a:xfrm>
          <a:prstGeom prst="rect">
            <a:avLst/>
          </a:prstGeom>
          <a:solidFill>
            <a:srgbClr val="DBEAFE"/>
          </a:solidFill>
          <a:ln w="9525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11480" y="3886200"/>
            <a:ext cx="54864" cy="6858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66928" y="3931920"/>
            <a:ext cx="3913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1 -  3 epochs  backbone frozen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66928" y="4206240"/>
            <a:ext cx="39136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 lr = 0.001  ·  Head only (28,686 ResNet / 14,350 DenseNet params)  ·  AMP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846320" y="3886200"/>
            <a:ext cx="4206240" cy="685800"/>
          </a:xfrm>
          <a:prstGeom prst="rect">
            <a:avLst/>
          </a:prstGeom>
          <a:solidFill>
            <a:srgbClr val="CCFBF1"/>
          </a:solidFill>
          <a:ln w="9525">
            <a:solidFill>
              <a:srgbClr val="99F6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846320" y="3886200"/>
            <a:ext cx="54864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001768" y="3931920"/>
            <a:ext cx="39136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2 -  7 epochs  full fine-tune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001768" y="4206240"/>
            <a:ext cx="39136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 lr = 0.0001  weight decay 1e-5  ·  Cosine schedule  ·  AMP  ·  Batch 128</a:t>
            </a:r>
            <a:endParaRPr lang="en-US" sz="95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49640" y="502005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r>
              <a:rPr lang="en-US" dirty="0"/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8321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RESULTS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402336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did training go?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069848"/>
            <a:ext cx="8321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11480" y="1060704"/>
            <a:ext cx="109728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549640" y="5020056"/>
            <a:ext cx="4572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11479" y="1207008"/>
            <a:ext cx="8466513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1207008"/>
            <a:ext cx="1280160" cy="34747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l">
              <a:buNone/>
            </a:pP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737360" y="1207008"/>
            <a:ext cx="7863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 1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560320" y="1207008"/>
            <a:ext cx="7863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 2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383280" y="1207008"/>
            <a:ext cx="7863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 3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206240" y="1207008"/>
            <a:ext cx="7863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 4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029200" y="1207008"/>
            <a:ext cx="7863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 5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852160" y="1207008"/>
            <a:ext cx="7863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 6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675120" y="1207008"/>
            <a:ext cx="7863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 7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498080" y="1207008"/>
            <a:ext cx="749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 8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8229600" y="1207008"/>
            <a:ext cx="6583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 9 to 10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169664" y="1207008"/>
            <a:ext cx="0" cy="1152144"/>
          </a:xfrm>
          <a:prstGeom prst="line">
            <a:avLst/>
          </a:prstGeom>
          <a:noFill/>
          <a:ln w="9525">
            <a:solidFill>
              <a:srgbClr val="94A3B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719072" y="2395728"/>
            <a:ext cx="2423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Phase 1 →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4206240" y="2395728"/>
            <a:ext cx="4206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Phase 2 (full fine-tune) →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411480" y="1572768"/>
            <a:ext cx="8366760" cy="402336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57200" y="1572768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ResNet50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737360" y="1572768"/>
            <a:ext cx="7863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0.712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560320" y="1572768"/>
            <a:ext cx="7863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0.721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383280" y="1572768"/>
            <a:ext cx="7863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0.726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206240" y="1572768"/>
            <a:ext cx="7863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0.773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029200" y="1572768"/>
            <a:ext cx="7863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0.796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852160" y="1572768"/>
            <a:ext cx="7863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0.803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675120" y="1572768"/>
            <a:ext cx="7863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0.814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7498080" y="1572768"/>
            <a:ext cx="7498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0.817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8275320" y="1618488"/>
            <a:ext cx="566928" cy="31089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8229600" y="1572768"/>
            <a:ext cx="6583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0.822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11480" y="2011680"/>
            <a:ext cx="8366760" cy="402336"/>
          </a:xfrm>
          <a:prstGeom prst="rect">
            <a:avLst/>
          </a:prstGeom>
          <a:solidFill>
            <a:srgbClr val="F4F6F9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57200" y="2011680"/>
            <a:ext cx="1280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DenseNet-121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737360" y="2011680"/>
            <a:ext cx="7863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0.710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2560320" y="2011680"/>
            <a:ext cx="7863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0.713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3383280" y="2011680"/>
            <a:ext cx="7863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0.715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206240" y="2011680"/>
            <a:ext cx="7863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0.758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029200" y="2011680"/>
            <a:ext cx="7863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0.794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5852160" y="2011680"/>
            <a:ext cx="7863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0.801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675120" y="2011680"/>
            <a:ext cx="7863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0.784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7498080" y="2011680"/>
            <a:ext cx="7498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0.814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8275320" y="2057400"/>
            <a:ext cx="566928" cy="31089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8229600" y="2011680"/>
            <a:ext cx="6583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0.819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34340" y="2656332"/>
            <a:ext cx="4114800" cy="141732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411480" y="2633472"/>
            <a:ext cx="4114800" cy="1417320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411480" y="2633472"/>
            <a:ext cx="54864" cy="1417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566928" y="2706624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ResNet50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566928" y="30175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Val AUC   0.8223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566928" y="3401568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Test AUC  0.7985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566928" y="374904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 10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732020" y="2656332"/>
            <a:ext cx="4114800" cy="141732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4709160" y="2633472"/>
            <a:ext cx="4114800" cy="1417320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4709160" y="2633472"/>
            <a:ext cx="54864" cy="1417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4864608" y="2706624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DenseNet-121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4864608" y="30175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Val AUC   0.8193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4864608" y="3401568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Test AUC  0.7939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4864608" y="374904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 10</a:t>
            </a:r>
            <a:endParaRPr lang="en-US" sz="900" dirty="0"/>
          </a:p>
        </p:txBody>
      </p:sp>
      <p:sp>
        <p:nvSpPr>
          <p:cNvPr id="5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49640" y="502005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r>
              <a:rPr lang="en-US" dirty="0"/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8321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RESULTS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402336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 Per Disease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069848"/>
            <a:ext cx="8321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11480" y="1060704"/>
            <a:ext cx="109728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549640" y="5020056"/>
            <a:ext cx="4572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11480" y="1207008"/>
            <a:ext cx="836676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11480" y="3767328"/>
            <a:ext cx="8366760" cy="0"/>
          </a:xfrm>
          <a:prstGeom prst="line">
            <a:avLst/>
          </a:prstGeom>
          <a:noFill/>
          <a:ln w="444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" y="3675888"/>
            <a:ext cx="338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0.65</a:t>
            </a:r>
            <a:endParaRPr lang="en-US" sz="650" dirty="0"/>
          </a:p>
        </p:txBody>
      </p:sp>
      <p:sp>
        <p:nvSpPr>
          <p:cNvPr id="10" name="Shape 8"/>
          <p:cNvSpPr/>
          <p:nvPr/>
        </p:nvSpPr>
        <p:spPr>
          <a:xfrm>
            <a:off x="411480" y="3401568"/>
            <a:ext cx="8366760" cy="0"/>
          </a:xfrm>
          <a:prstGeom prst="line">
            <a:avLst/>
          </a:prstGeom>
          <a:noFill/>
          <a:ln w="444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" y="3310128"/>
            <a:ext cx="338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0.70</a:t>
            </a:r>
            <a:endParaRPr lang="en-US" sz="650" dirty="0"/>
          </a:p>
        </p:txBody>
      </p:sp>
      <p:sp>
        <p:nvSpPr>
          <p:cNvPr id="12" name="Shape 10"/>
          <p:cNvSpPr/>
          <p:nvPr/>
        </p:nvSpPr>
        <p:spPr>
          <a:xfrm>
            <a:off x="411480" y="3035808"/>
            <a:ext cx="8366760" cy="0"/>
          </a:xfrm>
          <a:prstGeom prst="line">
            <a:avLst/>
          </a:prstGeom>
          <a:noFill/>
          <a:ln w="444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" y="2944368"/>
            <a:ext cx="338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0.75</a:t>
            </a:r>
            <a:endParaRPr lang="en-US" sz="650" dirty="0"/>
          </a:p>
        </p:txBody>
      </p:sp>
      <p:sp>
        <p:nvSpPr>
          <p:cNvPr id="14" name="Shape 12"/>
          <p:cNvSpPr/>
          <p:nvPr/>
        </p:nvSpPr>
        <p:spPr>
          <a:xfrm>
            <a:off x="411480" y="2670048"/>
            <a:ext cx="8366760" cy="0"/>
          </a:xfrm>
          <a:prstGeom prst="line">
            <a:avLst/>
          </a:prstGeom>
          <a:noFill/>
          <a:ln w="444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" y="2578608"/>
            <a:ext cx="338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0.80</a:t>
            </a:r>
            <a:endParaRPr lang="en-US" sz="650" dirty="0"/>
          </a:p>
        </p:txBody>
      </p:sp>
      <p:sp>
        <p:nvSpPr>
          <p:cNvPr id="16" name="Shape 14"/>
          <p:cNvSpPr/>
          <p:nvPr/>
        </p:nvSpPr>
        <p:spPr>
          <a:xfrm>
            <a:off x="411480" y="2304288"/>
            <a:ext cx="8366760" cy="0"/>
          </a:xfrm>
          <a:prstGeom prst="line">
            <a:avLst/>
          </a:prstGeom>
          <a:noFill/>
          <a:ln w="444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720" y="2212848"/>
            <a:ext cx="338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0.85</a:t>
            </a:r>
            <a:endParaRPr lang="en-US" sz="650" dirty="0"/>
          </a:p>
        </p:txBody>
      </p:sp>
      <p:sp>
        <p:nvSpPr>
          <p:cNvPr id="18" name="Shape 16"/>
          <p:cNvSpPr/>
          <p:nvPr/>
        </p:nvSpPr>
        <p:spPr>
          <a:xfrm>
            <a:off x="411480" y="1938528"/>
            <a:ext cx="8366760" cy="0"/>
          </a:xfrm>
          <a:prstGeom prst="line">
            <a:avLst/>
          </a:prstGeom>
          <a:noFill/>
          <a:ln w="444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5720" y="1847088"/>
            <a:ext cx="338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0.90</a:t>
            </a:r>
            <a:endParaRPr lang="en-US" sz="650" dirty="0"/>
          </a:p>
        </p:txBody>
      </p:sp>
      <p:sp>
        <p:nvSpPr>
          <p:cNvPr id="20" name="Shape 18"/>
          <p:cNvSpPr/>
          <p:nvPr/>
        </p:nvSpPr>
        <p:spPr>
          <a:xfrm>
            <a:off x="411480" y="1572768"/>
            <a:ext cx="8366760" cy="0"/>
          </a:xfrm>
          <a:prstGeom prst="line">
            <a:avLst/>
          </a:prstGeom>
          <a:noFill/>
          <a:ln w="444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5720" y="1481328"/>
            <a:ext cx="338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0.95</a:t>
            </a:r>
            <a:endParaRPr lang="en-US" sz="650" dirty="0"/>
          </a:p>
        </p:txBody>
      </p:sp>
      <p:sp>
        <p:nvSpPr>
          <p:cNvPr id="22" name="Shape 20"/>
          <p:cNvSpPr/>
          <p:nvPr/>
        </p:nvSpPr>
        <p:spPr>
          <a:xfrm>
            <a:off x="411480" y="2697846"/>
            <a:ext cx="8366760" cy="0"/>
          </a:xfrm>
          <a:prstGeom prst="line">
            <a:avLst/>
          </a:prstGeom>
          <a:noFill/>
          <a:ln w="10160">
            <a:solidFill>
              <a:srgbClr val="94A3B8"/>
            </a:solidFill>
            <a:prstDash val="lgDash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59290" y="1871228"/>
            <a:ext cx="179288" cy="226186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56866" y="1779057"/>
            <a:ext cx="179288" cy="2354031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13570" y="4187952"/>
            <a:ext cx="567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Hernia</a:t>
            </a:r>
            <a:endParaRPr lang="en-US" sz="580" dirty="0"/>
          </a:p>
        </p:txBody>
      </p:sp>
      <p:sp>
        <p:nvSpPr>
          <p:cNvPr id="26" name="Shape 24"/>
          <p:cNvSpPr/>
          <p:nvPr/>
        </p:nvSpPr>
        <p:spPr>
          <a:xfrm>
            <a:off x="1056916" y="1946575"/>
            <a:ext cx="179288" cy="2186513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1254491" y="1976567"/>
            <a:ext cx="179288" cy="2156521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1011196" y="4187952"/>
            <a:ext cx="567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Emphysema</a:t>
            </a:r>
            <a:endParaRPr lang="en-US" sz="580" dirty="0"/>
          </a:p>
        </p:txBody>
      </p:sp>
      <p:sp>
        <p:nvSpPr>
          <p:cNvPr id="29" name="Shape 27"/>
          <p:cNvSpPr/>
          <p:nvPr/>
        </p:nvSpPr>
        <p:spPr>
          <a:xfrm>
            <a:off x="1654541" y="2053377"/>
            <a:ext cx="179288" cy="2079711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1852117" y="2147011"/>
            <a:ext cx="179288" cy="1986077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1608821" y="4187952"/>
            <a:ext cx="567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Cardiomegaly</a:t>
            </a:r>
            <a:endParaRPr lang="en-US" sz="580" dirty="0"/>
          </a:p>
        </p:txBody>
      </p:sp>
      <p:sp>
        <p:nvSpPr>
          <p:cNvPr id="32" name="Shape 30"/>
          <p:cNvSpPr/>
          <p:nvPr/>
        </p:nvSpPr>
        <p:spPr>
          <a:xfrm>
            <a:off x="2252167" y="2301362"/>
            <a:ext cx="179288" cy="183172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2449743" y="2294778"/>
            <a:ext cx="179288" cy="183831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2206447" y="4187952"/>
            <a:ext cx="567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Pneumothorax</a:t>
            </a:r>
            <a:endParaRPr lang="en-US" sz="580" dirty="0"/>
          </a:p>
        </p:txBody>
      </p:sp>
      <p:sp>
        <p:nvSpPr>
          <p:cNvPr id="35" name="Shape 33"/>
          <p:cNvSpPr/>
          <p:nvPr/>
        </p:nvSpPr>
        <p:spPr>
          <a:xfrm>
            <a:off x="2849793" y="2338669"/>
            <a:ext cx="179288" cy="1794419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3047369" y="2400117"/>
            <a:ext cx="179288" cy="1732971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2804073" y="4187952"/>
            <a:ext cx="567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Edema</a:t>
            </a:r>
            <a:endParaRPr lang="en-US" sz="580" dirty="0"/>
          </a:p>
        </p:txBody>
      </p:sp>
      <p:sp>
        <p:nvSpPr>
          <p:cNvPr id="38" name="Shape 36"/>
          <p:cNvSpPr/>
          <p:nvPr/>
        </p:nvSpPr>
        <p:spPr>
          <a:xfrm>
            <a:off x="3447419" y="2553736"/>
            <a:ext cx="179288" cy="157935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3644994" y="2629814"/>
            <a:ext cx="179288" cy="150327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3401699" y="4187952"/>
            <a:ext cx="567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Effusion</a:t>
            </a:r>
            <a:endParaRPr lang="en-US" sz="580" dirty="0"/>
          </a:p>
        </p:txBody>
      </p:sp>
      <p:sp>
        <p:nvSpPr>
          <p:cNvPr id="41" name="Shape 39"/>
          <p:cNvSpPr/>
          <p:nvPr/>
        </p:nvSpPr>
        <p:spPr>
          <a:xfrm>
            <a:off x="4045044" y="2614452"/>
            <a:ext cx="179288" cy="151863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4242620" y="2687604"/>
            <a:ext cx="179288" cy="14454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3999324" y="4187952"/>
            <a:ext cx="567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Fibrosis</a:t>
            </a:r>
            <a:endParaRPr lang="en-US" sz="580" dirty="0"/>
          </a:p>
        </p:txBody>
      </p:sp>
      <p:sp>
        <p:nvSpPr>
          <p:cNvPr id="44" name="Shape 42"/>
          <p:cNvSpPr/>
          <p:nvPr/>
        </p:nvSpPr>
        <p:spPr>
          <a:xfrm>
            <a:off x="4642670" y="2727838"/>
            <a:ext cx="179288" cy="140525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4840246" y="2809037"/>
            <a:ext cx="179288" cy="1324051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4596950" y="4187952"/>
            <a:ext cx="567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</a:t>
            </a:r>
            <a:endParaRPr lang="en-US" sz="580" dirty="0"/>
          </a:p>
        </p:txBody>
      </p:sp>
      <p:sp>
        <p:nvSpPr>
          <p:cNvPr id="47" name="Shape 45"/>
          <p:cNvSpPr/>
          <p:nvPr/>
        </p:nvSpPr>
        <p:spPr>
          <a:xfrm>
            <a:off x="5240296" y="2937053"/>
            <a:ext cx="179288" cy="1196035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5437871" y="3010205"/>
            <a:ext cx="179288" cy="1122883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5194576" y="4187952"/>
            <a:ext cx="567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Pleural</a:t>
            </a:r>
            <a:endParaRPr lang="en-US" sz="580" dirty="0"/>
          </a:p>
        </p:txBody>
      </p:sp>
      <p:sp>
        <p:nvSpPr>
          <p:cNvPr id="50" name="Shape 48"/>
          <p:cNvSpPr/>
          <p:nvPr/>
        </p:nvSpPr>
        <p:spPr>
          <a:xfrm>
            <a:off x="5837921" y="3034345"/>
            <a:ext cx="179288" cy="1098743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6035497" y="3117007"/>
            <a:ext cx="179288" cy="1016081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5792201" y="4187952"/>
            <a:ext cx="567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Atelectasis</a:t>
            </a:r>
            <a:endParaRPr lang="en-US" sz="580" dirty="0"/>
          </a:p>
        </p:txBody>
      </p:sp>
      <p:sp>
        <p:nvSpPr>
          <p:cNvPr id="53" name="Shape 51"/>
          <p:cNvSpPr/>
          <p:nvPr/>
        </p:nvSpPr>
        <p:spPr>
          <a:xfrm>
            <a:off x="6435547" y="3154314"/>
            <a:ext cx="179288" cy="978774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6633123" y="3222346"/>
            <a:ext cx="179288" cy="91074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6389827" y="4187952"/>
            <a:ext cx="567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Consolidation</a:t>
            </a:r>
            <a:endParaRPr lang="en-US" sz="580" dirty="0"/>
          </a:p>
        </p:txBody>
      </p:sp>
      <p:sp>
        <p:nvSpPr>
          <p:cNvPr id="56" name="Shape 54"/>
          <p:cNvSpPr/>
          <p:nvPr/>
        </p:nvSpPr>
        <p:spPr>
          <a:xfrm>
            <a:off x="7033173" y="3182112"/>
            <a:ext cx="179288" cy="95097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7230749" y="3255264"/>
            <a:ext cx="179288" cy="87782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6987453" y="4187952"/>
            <a:ext cx="567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Nodule</a:t>
            </a:r>
            <a:endParaRPr lang="en-US" sz="580" dirty="0"/>
          </a:p>
        </p:txBody>
      </p:sp>
      <p:sp>
        <p:nvSpPr>
          <p:cNvPr id="59" name="Shape 57"/>
          <p:cNvSpPr/>
          <p:nvPr/>
        </p:nvSpPr>
        <p:spPr>
          <a:xfrm>
            <a:off x="7630799" y="3410346"/>
            <a:ext cx="179288" cy="72274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7828374" y="3315249"/>
            <a:ext cx="179288" cy="817839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7585079" y="4187952"/>
            <a:ext cx="567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Pneumonia</a:t>
            </a:r>
            <a:endParaRPr lang="en-US" sz="580" dirty="0"/>
          </a:p>
        </p:txBody>
      </p:sp>
      <p:sp>
        <p:nvSpPr>
          <p:cNvPr id="62" name="Shape 60"/>
          <p:cNvSpPr/>
          <p:nvPr/>
        </p:nvSpPr>
        <p:spPr>
          <a:xfrm>
            <a:off x="8228424" y="3407420"/>
            <a:ext cx="179288" cy="7256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8426000" y="3365724"/>
            <a:ext cx="179288" cy="7673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8182704" y="4187952"/>
            <a:ext cx="567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Infiltration</a:t>
            </a:r>
            <a:endParaRPr lang="en-US" sz="580" dirty="0"/>
          </a:p>
        </p:txBody>
      </p:sp>
      <p:sp>
        <p:nvSpPr>
          <p:cNvPr id="65" name="Shape 63"/>
          <p:cNvSpPr/>
          <p:nvPr/>
        </p:nvSpPr>
        <p:spPr>
          <a:xfrm>
            <a:off x="411480" y="4736592"/>
            <a:ext cx="164592" cy="914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640080" y="470916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ResNet50  (Mean 0.7985)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3200400" y="4736592"/>
            <a:ext cx="164592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3429000" y="470916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DenseNet-121  (Mean 0.7939)</a:t>
            </a:r>
            <a:endParaRPr lang="en-US" sz="900" dirty="0"/>
          </a:p>
        </p:txBody>
      </p:sp>
      <p:sp>
        <p:nvSpPr>
          <p:cNvPr id="6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49640" y="502005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r>
              <a:rPr lang="en-US" dirty="0"/>
              <a:t>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8321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COMPARISON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402336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Disease-Level Detail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069848"/>
            <a:ext cx="8321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11480" y="1060704"/>
            <a:ext cx="109728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549640" y="5020056"/>
            <a:ext cx="4572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11480" y="1207008"/>
            <a:ext cx="836676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1207008"/>
            <a:ext cx="1847088" cy="347472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304288" y="1207008"/>
            <a:ext cx="1024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Prevalence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364992" y="1207008"/>
            <a:ext cx="1024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ResNet50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425696" y="1207008"/>
            <a:ext cx="1024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DenseNet-121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0" y="1207008"/>
            <a:ext cx="1024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547104" y="1207008"/>
            <a:ext cx="1024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Winner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607808" y="1207008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11480" y="1572768"/>
            <a:ext cx="836676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11480" y="1572768"/>
            <a:ext cx="1847088" cy="27432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Hernia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304288" y="1572768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0.16%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364992" y="1572768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0.909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425696" y="1572768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0.922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486400" y="1572768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+0.013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547104" y="1572768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DenseNet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607808" y="1572768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11480" y="1874520"/>
            <a:ext cx="8366760" cy="274320"/>
          </a:xfrm>
          <a:prstGeom prst="rect">
            <a:avLst/>
          </a:prstGeom>
          <a:solidFill>
            <a:srgbClr val="F4F6F9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11480" y="1874520"/>
            <a:ext cx="1847088" cy="27432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Emphysema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304288" y="1874520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1.69%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364992" y="1874520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0.899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425696" y="1874520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0.895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486400" y="1874520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−0.004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547104" y="1874520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7607808" y="187452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11480" y="2176272"/>
            <a:ext cx="836676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11480" y="2176272"/>
            <a:ext cx="1847088" cy="27432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Cardiomegaly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2304288" y="2176272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1.99%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364992" y="2176272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0.884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425696" y="2176272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0.872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486400" y="2176272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−0.013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547104" y="2176272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7607808" y="2176272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11480" y="2478024"/>
            <a:ext cx="8366760" cy="274320"/>
          </a:xfrm>
          <a:prstGeom prst="rect">
            <a:avLst/>
          </a:prstGeom>
          <a:solidFill>
            <a:srgbClr val="F4F6F9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11480" y="2478024"/>
            <a:ext cx="1847088" cy="27432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Pneumothorax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2304288" y="2478024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3.07%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3364992" y="2478024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0.850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4425696" y="2478024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0.851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5486400" y="2478024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+0.001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6547104" y="2478024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DenseNet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7607808" y="2478024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11480" y="2779776"/>
            <a:ext cx="836676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411480" y="2779776"/>
            <a:ext cx="1847088" cy="27432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Edema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2304288" y="2779776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1.61%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3364992" y="2779776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0.845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4425696" y="2779776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0.837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5486400" y="2779776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−0.008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6547104" y="2779776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7607808" y="2779776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11480" y="3081528"/>
            <a:ext cx="8366760" cy="274320"/>
          </a:xfrm>
          <a:prstGeom prst="rect">
            <a:avLst/>
          </a:prstGeom>
          <a:solidFill>
            <a:srgbClr val="F4F6F9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411480" y="3081528"/>
            <a:ext cx="1847088" cy="27432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Effusion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2304288" y="3081528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10.07%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3364992" y="3081528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0.816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4425696" y="3081528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0.806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5486400" y="3081528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−0.010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6547104" y="3081528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7607808" y="3081528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411480" y="3383280"/>
            <a:ext cx="836676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411480" y="3383280"/>
            <a:ext cx="1847088" cy="27432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2304288" y="3383280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4.68%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3364992" y="3383280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0.792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4425696" y="3383280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0.781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5486400" y="3383280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−0.011</a:t>
            </a:r>
            <a:endParaRPr lang="en-US" sz="950" dirty="0"/>
          </a:p>
        </p:txBody>
      </p:sp>
      <p:sp>
        <p:nvSpPr>
          <p:cNvPr id="69" name="Text 67"/>
          <p:cNvSpPr/>
          <p:nvPr/>
        </p:nvSpPr>
        <p:spPr>
          <a:xfrm>
            <a:off x="6547104" y="3383280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</a:t>
            </a:r>
            <a:endParaRPr lang="en-US" sz="950" dirty="0"/>
          </a:p>
        </p:txBody>
      </p:sp>
      <p:sp>
        <p:nvSpPr>
          <p:cNvPr id="70" name="Text 68"/>
          <p:cNvSpPr/>
          <p:nvPr/>
        </p:nvSpPr>
        <p:spPr>
          <a:xfrm>
            <a:off x="7607808" y="338328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411480" y="3685032"/>
            <a:ext cx="8366760" cy="274320"/>
          </a:xfrm>
          <a:prstGeom prst="rect">
            <a:avLst/>
          </a:prstGeom>
          <a:solidFill>
            <a:srgbClr val="F4F6F9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411480" y="3685032"/>
            <a:ext cx="1847088" cy="27432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Consolidation</a:t>
            </a:r>
            <a:endParaRPr lang="en-US" sz="950" dirty="0"/>
          </a:p>
        </p:txBody>
      </p:sp>
      <p:sp>
        <p:nvSpPr>
          <p:cNvPr id="73" name="Text 71"/>
          <p:cNvSpPr/>
          <p:nvPr/>
        </p:nvSpPr>
        <p:spPr>
          <a:xfrm>
            <a:off x="2304288" y="3685032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3.31%</a:t>
            </a:r>
            <a:endParaRPr lang="en-US" sz="950" dirty="0"/>
          </a:p>
        </p:txBody>
      </p:sp>
      <p:sp>
        <p:nvSpPr>
          <p:cNvPr id="74" name="Text 72"/>
          <p:cNvSpPr/>
          <p:nvPr/>
        </p:nvSpPr>
        <p:spPr>
          <a:xfrm>
            <a:off x="3364992" y="3685032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0.734</a:t>
            </a:r>
            <a:endParaRPr lang="en-US" sz="950" dirty="0"/>
          </a:p>
        </p:txBody>
      </p:sp>
      <p:sp>
        <p:nvSpPr>
          <p:cNvPr id="75" name="Text 73"/>
          <p:cNvSpPr/>
          <p:nvPr/>
        </p:nvSpPr>
        <p:spPr>
          <a:xfrm>
            <a:off x="4425696" y="3685032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0.725</a:t>
            </a:r>
            <a:endParaRPr lang="en-US" sz="950" dirty="0"/>
          </a:p>
        </p:txBody>
      </p:sp>
      <p:sp>
        <p:nvSpPr>
          <p:cNvPr id="76" name="Text 74"/>
          <p:cNvSpPr/>
          <p:nvPr/>
        </p:nvSpPr>
        <p:spPr>
          <a:xfrm>
            <a:off x="5486400" y="3685032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−0.009</a:t>
            </a:r>
            <a:endParaRPr lang="en-US" sz="950" dirty="0"/>
          </a:p>
        </p:txBody>
      </p:sp>
      <p:sp>
        <p:nvSpPr>
          <p:cNvPr id="77" name="Text 75"/>
          <p:cNvSpPr/>
          <p:nvPr/>
        </p:nvSpPr>
        <p:spPr>
          <a:xfrm>
            <a:off x="6547104" y="3685032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</a:t>
            </a:r>
            <a:endParaRPr lang="en-US" sz="950" dirty="0"/>
          </a:p>
        </p:txBody>
      </p:sp>
      <p:sp>
        <p:nvSpPr>
          <p:cNvPr id="78" name="Text 76"/>
          <p:cNvSpPr/>
          <p:nvPr/>
        </p:nvSpPr>
        <p:spPr>
          <a:xfrm>
            <a:off x="7607808" y="3685032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411480" y="3986784"/>
            <a:ext cx="836676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Text 78"/>
          <p:cNvSpPr/>
          <p:nvPr/>
        </p:nvSpPr>
        <p:spPr>
          <a:xfrm>
            <a:off x="411480" y="3986784"/>
            <a:ext cx="1847088" cy="27432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Pneumonia</a:t>
            </a:r>
            <a:endParaRPr lang="en-US" sz="950" dirty="0"/>
          </a:p>
        </p:txBody>
      </p:sp>
      <p:sp>
        <p:nvSpPr>
          <p:cNvPr id="81" name="Text 79"/>
          <p:cNvSpPr/>
          <p:nvPr/>
        </p:nvSpPr>
        <p:spPr>
          <a:xfrm>
            <a:off x="2304288" y="3986784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1.00%</a:t>
            </a:r>
            <a:endParaRPr lang="en-US" sz="950" dirty="0"/>
          </a:p>
        </p:txBody>
      </p:sp>
      <p:sp>
        <p:nvSpPr>
          <p:cNvPr id="82" name="Text 80"/>
          <p:cNvSpPr/>
          <p:nvPr/>
        </p:nvSpPr>
        <p:spPr>
          <a:xfrm>
            <a:off x="3364992" y="3986784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0.699</a:t>
            </a:r>
            <a:endParaRPr lang="en-US" sz="950" dirty="0"/>
          </a:p>
        </p:txBody>
      </p:sp>
      <p:sp>
        <p:nvSpPr>
          <p:cNvPr id="83" name="Text 81"/>
          <p:cNvSpPr/>
          <p:nvPr/>
        </p:nvSpPr>
        <p:spPr>
          <a:xfrm>
            <a:off x="4425696" y="3986784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0.712</a:t>
            </a:r>
            <a:endParaRPr lang="en-US" sz="950" dirty="0"/>
          </a:p>
        </p:txBody>
      </p:sp>
      <p:sp>
        <p:nvSpPr>
          <p:cNvPr id="84" name="Text 82"/>
          <p:cNvSpPr/>
          <p:nvPr/>
        </p:nvSpPr>
        <p:spPr>
          <a:xfrm>
            <a:off x="5486400" y="3986784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+0.013</a:t>
            </a:r>
            <a:endParaRPr lang="en-US" sz="950" dirty="0"/>
          </a:p>
        </p:txBody>
      </p:sp>
      <p:sp>
        <p:nvSpPr>
          <p:cNvPr id="85" name="Text 83"/>
          <p:cNvSpPr/>
          <p:nvPr/>
        </p:nvSpPr>
        <p:spPr>
          <a:xfrm>
            <a:off x="6547104" y="3986784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DenseNet</a:t>
            </a:r>
            <a:endParaRPr lang="en-US" sz="950" dirty="0"/>
          </a:p>
        </p:txBody>
      </p:sp>
      <p:sp>
        <p:nvSpPr>
          <p:cNvPr id="86" name="Text 84"/>
          <p:cNvSpPr/>
          <p:nvPr/>
        </p:nvSpPr>
        <p:spPr>
          <a:xfrm>
            <a:off x="7607808" y="3986784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411480" y="4288536"/>
            <a:ext cx="8366760" cy="274320"/>
          </a:xfrm>
          <a:prstGeom prst="rect">
            <a:avLst/>
          </a:prstGeom>
          <a:solidFill>
            <a:srgbClr val="F4F6F9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8" name="Text 86"/>
          <p:cNvSpPr/>
          <p:nvPr/>
        </p:nvSpPr>
        <p:spPr>
          <a:xfrm>
            <a:off x="411480" y="4288536"/>
            <a:ext cx="1847088" cy="274320"/>
          </a:xfrm>
          <a:prstGeom prst="rect">
            <a:avLst/>
          </a:prstGeom>
          <a:noFill/>
          <a:ln/>
        </p:spPr>
        <p:txBody>
          <a:bodyPr wrap="square" lIns="63500" tIns="63500" rIns="63500" bIns="6350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Infiltration</a:t>
            </a:r>
            <a:endParaRPr lang="en-US" sz="950" dirty="0"/>
          </a:p>
        </p:txBody>
      </p:sp>
      <p:sp>
        <p:nvSpPr>
          <p:cNvPr id="89" name="Text 87"/>
          <p:cNvSpPr/>
          <p:nvPr/>
        </p:nvSpPr>
        <p:spPr>
          <a:xfrm>
            <a:off x="2304288" y="4288536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16.00%</a:t>
            </a:r>
            <a:endParaRPr lang="en-US" sz="950" dirty="0"/>
          </a:p>
        </p:txBody>
      </p:sp>
      <p:sp>
        <p:nvSpPr>
          <p:cNvPr id="90" name="Text 88"/>
          <p:cNvSpPr/>
          <p:nvPr/>
        </p:nvSpPr>
        <p:spPr>
          <a:xfrm>
            <a:off x="3364992" y="4288536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0.699</a:t>
            </a:r>
            <a:endParaRPr lang="en-US" sz="950" dirty="0"/>
          </a:p>
        </p:txBody>
      </p:sp>
      <p:sp>
        <p:nvSpPr>
          <p:cNvPr id="91" name="Text 89"/>
          <p:cNvSpPr/>
          <p:nvPr/>
        </p:nvSpPr>
        <p:spPr>
          <a:xfrm>
            <a:off x="4425696" y="4288536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0.705</a:t>
            </a:r>
            <a:endParaRPr lang="en-US" sz="950" dirty="0"/>
          </a:p>
        </p:txBody>
      </p:sp>
      <p:sp>
        <p:nvSpPr>
          <p:cNvPr id="92" name="Text 90"/>
          <p:cNvSpPr/>
          <p:nvPr/>
        </p:nvSpPr>
        <p:spPr>
          <a:xfrm>
            <a:off x="5486400" y="4288536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+0.006</a:t>
            </a:r>
            <a:endParaRPr lang="en-US" sz="950" dirty="0"/>
          </a:p>
        </p:txBody>
      </p:sp>
      <p:sp>
        <p:nvSpPr>
          <p:cNvPr id="93" name="Text 91"/>
          <p:cNvSpPr/>
          <p:nvPr/>
        </p:nvSpPr>
        <p:spPr>
          <a:xfrm>
            <a:off x="6547104" y="4288536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DenseNet</a:t>
            </a:r>
            <a:endParaRPr lang="en-US" sz="950" dirty="0"/>
          </a:p>
        </p:txBody>
      </p:sp>
      <p:sp>
        <p:nvSpPr>
          <p:cNvPr id="94" name="Text 92"/>
          <p:cNvSpPr/>
          <p:nvPr/>
        </p:nvSpPr>
        <p:spPr>
          <a:xfrm>
            <a:off x="7607808" y="4288536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900" dirty="0"/>
          </a:p>
        </p:txBody>
      </p:sp>
      <p:sp>
        <p:nvSpPr>
          <p:cNvPr id="9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49640" y="502005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r>
              <a:rPr lang="en-US" dirty="0"/>
              <a:t>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8321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LIMITATIONS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402336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069848"/>
            <a:ext cx="8321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11480" y="1060704"/>
            <a:ext cx="109728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549640" y="5020056"/>
            <a:ext cx="4572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34340" y="1229868"/>
            <a:ext cx="4160520" cy="169164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11480" y="1207008"/>
            <a:ext cx="4160520" cy="1691640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11480" y="1207008"/>
            <a:ext cx="54864" cy="16916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1298448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548640" y="1682496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Budget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029968"/>
            <a:ext cx="37490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48640" y="2121408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epochs is insufficient to demonstrate DenseNet-121's architectural advantage over ResNet50. Extended training (15-20 epochs) needed for a fair comparison.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777740" y="1229868"/>
            <a:ext cx="4160520" cy="169164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754880" y="1207008"/>
            <a:ext cx="4160520" cy="1691640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754880" y="1207008"/>
            <a:ext cx="54864" cy="16916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892040" y="1298448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4892040" y="1682496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Scarcity for Rare Classes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892040" y="2029968"/>
            <a:ext cx="37490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892040" y="2121408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weights correct the loss but cannot generate new positive examples. Hernia has only 122 training images a fundamental limit for learning robust features.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34340" y="3104388"/>
            <a:ext cx="4160520" cy="169164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11480" y="3081528"/>
            <a:ext cx="4160520" cy="1691640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11480" y="3081528"/>
            <a:ext cx="54864" cy="16916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48640" y="3172968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25" name="Text 23"/>
          <p:cNvSpPr/>
          <p:nvPr/>
        </p:nvSpPr>
        <p:spPr>
          <a:xfrm>
            <a:off x="548640" y="3557016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NLP-Extracted Label Noise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48640" y="3904488"/>
            <a:ext cx="37490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48640" y="3995928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NIH dataset labels are derived from radiology report NLP not verified by radiologists. Label noise is highest for diffuse conditions requiring clinical context.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777740" y="3104388"/>
            <a:ext cx="4160520" cy="169164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754880" y="3081528"/>
            <a:ext cx="4160520" cy="1691640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754880" y="3081528"/>
            <a:ext cx="54864" cy="16916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892040" y="3172968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2" name="Text 30"/>
          <p:cNvSpPr/>
          <p:nvPr/>
        </p:nvSpPr>
        <p:spPr>
          <a:xfrm>
            <a:off x="4892040" y="3557016"/>
            <a:ext cx="3840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Upper Bound on Achievable AUC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892040" y="3904488"/>
            <a:ext cx="374904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892040" y="3995928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noise from NLP extraction sets an upper bound below 1.0 even for a perfect classifier. This limits how high any model can score on this dataset.</a:t>
            </a:r>
            <a:endParaRPr lang="en-US" sz="105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49640" y="502005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r>
              <a:rPr lang="en-US" dirty="0"/>
              <a:t>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8321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CONCLUSION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402336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069848"/>
            <a:ext cx="8321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11480" y="1060704"/>
            <a:ext cx="109728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549640" y="5020056"/>
            <a:ext cx="4572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34340" y="1229868"/>
            <a:ext cx="8366760" cy="107899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11480" y="1207008"/>
            <a:ext cx="8366760" cy="1078992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11480" y="1207008"/>
            <a:ext cx="54864" cy="107899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66928" y="1298448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Achieved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58368" y="1645920"/>
            <a:ext cx="8092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ResNet50: Mean AUC 0.7985  |  DenseNet-121: Mean AUC 0.7939  |  10 of 14 classes exceed AUC 0.75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BCE loss prevented model from ignoring rare diseases. Hernia AUC 0.92 despite 0.16% prevalence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Patient-level split, 2-phase training, and AMP are critical design decisions validated by results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34340" y="2436876"/>
            <a:ext cx="8366760" cy="1078992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11480" y="2414016"/>
            <a:ext cx="8366760" cy="1078992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11480" y="2414016"/>
            <a:ext cx="54864" cy="10789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66928" y="2505456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58368" y="2852928"/>
            <a:ext cx="8092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Near-equal performance at 10 epochs reflects training budget, not architectural equivalence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DenseNet-121 superior on rarest classes (Hernia +0.013, Pneumonia +0.013) consistent with feature reuse advantage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models substantially outperform random classification (AUC 0.5) across all 14 disease classes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66928" y="3712464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58368" y="4059936"/>
            <a:ext cx="8092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49640" y="502005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r>
              <a:rPr lang="en-US" dirty="0"/>
              <a:t>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8321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09/ REFERENCES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11480" y="402336"/>
            <a:ext cx="8321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069848"/>
            <a:ext cx="8321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11480" y="1060704"/>
            <a:ext cx="1097280" cy="502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549640" y="5020056"/>
            <a:ext cx="4572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11480" y="1207008"/>
            <a:ext cx="8366760" cy="530352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11480" y="1207008"/>
            <a:ext cx="45720" cy="53035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120700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 Wang, X., et al. (2017). ChestX-Ray8: Hospital-Scale Chest X-Ray Database and Benchmarks on Weakly-Supervised Classification. IEEE CVPR.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11480" y="1801368"/>
            <a:ext cx="8366760" cy="530352"/>
          </a:xfrm>
          <a:prstGeom prst="rect">
            <a:avLst/>
          </a:prstGeom>
          <a:solidFill>
            <a:srgbClr val="F4F6F9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11480" y="1801368"/>
            <a:ext cx="45720" cy="5303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8640" y="180136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 He, K., et al. (2016). Deep Residual Learning for Image Recognition. IEEE CVPR.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11480" y="2395728"/>
            <a:ext cx="8366760" cy="530352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11480" y="2395728"/>
            <a:ext cx="45720" cy="53035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48640" y="239572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 Huang, G., et al. (2017). Densely Connected Convolutional Networks. IEEE CVPR.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11480" y="2990088"/>
            <a:ext cx="8366760" cy="530352"/>
          </a:xfrm>
          <a:prstGeom prst="rect">
            <a:avLst/>
          </a:prstGeom>
          <a:solidFill>
            <a:srgbClr val="F4F6F9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11480" y="2990088"/>
            <a:ext cx="45720" cy="5303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48640" y="299008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 Rajpurkar, P., et al. (2017). CheXNet: Radiologist-Level Pneumonia Detection on Chest X-Rays with Deep Learning. arXiv:1711.05225.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11480" y="3584448"/>
            <a:ext cx="8366760" cy="530352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11480" y="3584448"/>
            <a:ext cx="45720" cy="53035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48640" y="358444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 Oakden-Rayner, L. (2017). Exploring the ChestXray14 Dataset: Problems. lukeoakdenrayner.wordpress.com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11480" y="4178808"/>
            <a:ext cx="8366760" cy="530352"/>
          </a:xfrm>
          <a:prstGeom prst="rect">
            <a:avLst/>
          </a:prstGeom>
          <a:solidFill>
            <a:srgbClr val="F4F6F9"/>
          </a:solidFill>
          <a:ln w="508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11480" y="4178808"/>
            <a:ext cx="45720" cy="5303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48640" y="417880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 NIH Clinical Center (2017). NIH Chest X-ray Dataset. kaggle.com/datasets/nih-chest-xrays/data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549640" y="502005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94A3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r>
              <a:rPr lang="en-US" dirty="0"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1176</Words>
  <Application>Microsoft Macintosh PowerPoint</Application>
  <PresentationFormat>On-screen Show (16:9)</PresentationFormat>
  <Paragraphs>293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Multi-Label Thoracic Disease Classification</dc:title>
  <dc:subject>PptxGenJS Presentation</dc:subject>
  <dc:creator>Ganapriya Hiriyur Shivakumar &amp; Gargi Kulshreshtha</dc:creator>
  <cp:lastModifiedBy>Kulshreshtha, Gargi</cp:lastModifiedBy>
  <cp:revision>32</cp:revision>
  <dcterms:created xsi:type="dcterms:W3CDTF">2026-04-11T17:28:35Z</dcterms:created>
  <dcterms:modified xsi:type="dcterms:W3CDTF">2026-04-11T21:41:14Z</dcterms:modified>
</cp:coreProperties>
</file>